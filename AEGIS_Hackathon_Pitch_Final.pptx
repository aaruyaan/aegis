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ln w="12700">
            <a:solidFill>
              <a:srgbClr val="242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548640"/>
            <a:ext cx="3291840" cy="3291840"/>
          </a:xfrm>
          <a:prstGeom prst="ellipse">
            <a:avLst/>
          </a:prstGeom>
          <a:ln w="12700">
            <a:solidFill>
              <a:srgbClr val="242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10642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9966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TARGET 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Crash Didn’t Call. We Did.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41248" y="3429000"/>
            <a:ext cx="2743200" cy="0"/>
          </a:xfrm>
          <a:prstGeom prst="line">
            <a:avLst/>
          </a:prstGeom>
          <a:noFill/>
          <a:ln w="12700">
            <a:solidFill>
              <a:srgbClr val="242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57600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 safety concept for cars &amp; bikes that detects a crash, verifies it, and instantly shares live location and video with the people and services who can help — engineered to keep working even where cell networks can’t reach.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5349240"/>
            <a:ext cx="566928" cy="566928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0" descr="/home/claude/aegis/icons/det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5485303"/>
            <a:ext cx="294803" cy="29480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59618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057400" y="5349240"/>
            <a:ext cx="566928" cy="566928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1" descr="/home/claude/aegis/icons/confi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463" y="5485303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28800" y="59618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91840" y="5349240"/>
            <a:ext cx="566928" cy="566928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2" descr="/home/claude/aegis/icons/loc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903" y="54853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63240" y="59618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26280" y="5349240"/>
            <a:ext cx="566928" cy="566928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3" descr="/home/claude/aegis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343" y="548530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97680" y="59618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9174175" y="6080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AEGIS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5" name="Text 19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Golden Hour is often lost after a crash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 is not only impact — it is delayed detection, location and escalation.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1A1F26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441448"/>
            <a:ext cx="603504" cy="60350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sk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369" y="2586289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3172968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1.77 LAKH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95528" y="379476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deaths recorded across India in 2024.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21488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1A1F26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441448"/>
            <a:ext cx="603504" cy="60350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/home/claude/aegis/icons/clockst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409" y="2586289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3172968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~20 / HR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544568" y="379476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die in road crashes every hour, on average.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01000" y="21488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77800" dist="63500" dir="5400000">
              <a:srgbClr val="1A1F26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93608" y="2441448"/>
            <a:ext cx="603504" cy="60350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2" descr="/home/claude/aegis/icons/r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449" y="2586289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93608" y="3172968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64,772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293608" y="3794760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reported on National Highways in 2024.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4800600"/>
            <a:ext cx="10927080" cy="1234440"/>
          </a:xfrm>
          <a:prstGeom prst="roundRect">
            <a:avLst>
              <a:gd name="adj" fmla="val 6667"/>
            </a:avLst>
          </a:prstGeom>
          <a:solidFill>
            <a:srgbClr val="0B0F14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49469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SILENCE AFTER IMPACT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8680" y="5202936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highways, ghats and rural stretches, riders and drivers can crash where no one sees them, phones can be damaged or thrown clear, and help may never be called in time.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02920" y="6199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· Ministry of Road Transport &amp; Highways — Road Accidents in India, 2024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7" name="Text 22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AEGIS: a coin-pouch-sized guardian for every vehicle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palm-sized, weatherproof IoT device designed to self-install on a car or bike. It watches for the physical signature of a crash, confirms it isn’t a false alarm, then automatically calls for help — sending location and live video to the people and services who need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15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6172" y="3108960"/>
            <a:ext cx="868680" cy="86868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0" descr="/home/claude/aegis/icons/det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655" y="3317443"/>
            <a:ext cx="451714" cy="4517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42062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40664" y="4636008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sensors sense impact, rollover or an unnatural fall within milliseconds.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74136" y="25146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02736" y="2715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47388" y="3108960"/>
            <a:ext cx="868680" cy="86868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1" descr="/home/claude/aegis/icons/confi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871" y="331744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75304" y="42062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Confirms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11880" y="4636008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countdown lets you cancel false alarms — potholes won’t trigger help.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45352" y="25146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73952" y="2715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118604" y="3108960"/>
            <a:ext cx="868680" cy="86868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1" name="Image 2" descr="/home/claude/aegis/icons/loc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087" y="3317443"/>
            <a:ext cx="451714" cy="4517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42062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Locates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483096" y="4636008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cell triangulation target the location; satellite fallback is planned for Phase 2.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116568" y="2514600"/>
            <a:ext cx="2615184" cy="3566160"/>
          </a:xfrm>
          <a:prstGeom prst="roundRect">
            <a:avLst>
              <a:gd name="adj" fmla="val 3147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345168" y="2715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9989820" y="3108960"/>
            <a:ext cx="868680" cy="86868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7" name="Image 3" descr="/home/claude/aegis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303" y="3317443"/>
            <a:ext cx="451714" cy="45171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17736" y="420624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Alerts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54312" y="4636008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ambulance &amp; hospital get live video, audio and coordinates instantly.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2" name="Text 26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/ TARGET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impact to ambulance — target: under 60 seconds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 flow; actual timings depend on connectivity and deployment.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05256" y="2185416"/>
            <a:ext cx="8961120" cy="0"/>
          </a:xfrm>
          <a:prstGeom prst="line">
            <a:avLst/>
          </a:prstGeom>
          <a:noFill/>
          <a:ln w="19050">
            <a:solidFill>
              <a:srgbClr val="E4E2DD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impac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98059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51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Impact sensed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3291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+ gyroscope detect crash-level force or a bike fall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2743200" y="178308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/home/claude/aegis/icons/questi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710" y="19805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0" y="2651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43200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Confirmation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43200" y="3291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app ask “Are you okay?” — press SOS or reply to cancel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4983480" y="178308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2" descr="/home/claude/aegis/icons/dispatch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990" y="198059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2651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83480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dispatched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983480" y="3291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call &amp; app push sent to emergency contacts and 112 / hospital</a:t>
            </a:r>
            <a:endParaRPr lang="en-US" sz="930" dirty="0"/>
          </a:p>
        </p:txBody>
      </p:sp>
      <p:sp>
        <p:nvSpPr>
          <p:cNvPr id="22" name="Shape 17"/>
          <p:cNvSpPr/>
          <p:nvPr/>
        </p:nvSpPr>
        <p:spPr>
          <a:xfrm>
            <a:off x="7223760" y="178308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3" descr="/home/claude/aegis/icons/livefeed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70" y="198059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2651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20s+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223760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feed opens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223760" y="3291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video &amp; audio stream to contacts and responders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9464040" y="178308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4" descr="/home/claude/aegis/icons/help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550" y="1980590"/>
            <a:ext cx="427939" cy="42793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64040" y="26517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ROUTE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464040" y="295351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Help arrives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464040" y="329184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navigates directly to the GPS pin; family stays updated</a:t>
            </a:r>
            <a:endParaRPr lang="en-US" sz="930" dirty="0"/>
          </a:p>
        </p:txBody>
      </p:sp>
      <p:sp>
        <p:nvSpPr>
          <p:cNvPr id="32" name="Shape 25"/>
          <p:cNvSpPr/>
          <p:nvPr/>
        </p:nvSpPr>
        <p:spPr>
          <a:xfrm>
            <a:off x="502920" y="507492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0B0F14"/>
          </a:solidFill>
          <a:ln/>
        </p:spPr>
      </p:sp>
      <p:sp>
        <p:nvSpPr>
          <p:cNvPr id="33" name="Shape 26"/>
          <p:cNvSpPr/>
          <p:nvPr/>
        </p:nvSpPr>
        <p:spPr>
          <a:xfrm>
            <a:off x="777240" y="5394960"/>
            <a:ext cx="594360" cy="594360"/>
          </a:xfrm>
          <a:prstGeom prst="ellipse">
            <a:avLst/>
          </a:prstGeom>
          <a:solidFill>
            <a:srgbClr val="141B24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4" name="Image 5" descr="/home/claude/aegis/icons/esca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5537606"/>
            <a:ext cx="309067" cy="30906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5087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1508760" y="55321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detected? The system escalates automatically — contact 2, then local emergency services — so one missed call never means no help at all.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9" name="Text 31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DEVICE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What’s engineered to pack into a 90-gram box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map — current concept selection.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20240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mc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2043135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24328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523744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ESP32 microcontroller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29077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brain; Wi-Fi + Bluetooth; deep-sleep for months of standby.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3328416" y="173736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11296" y="1920240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1" descr="/home/claude/aegis/icons/im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191" y="2043135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9824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11296" y="2523744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6-axis IMU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11296" y="29077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+ gyroscope detect impact force and orientation change.</a:t>
            </a:r>
            <a:endParaRPr lang="en-US" sz="930" dirty="0"/>
          </a:p>
        </p:txBody>
      </p:sp>
      <p:sp>
        <p:nvSpPr>
          <p:cNvPr id="18" name="Shape 14"/>
          <p:cNvSpPr/>
          <p:nvPr/>
        </p:nvSpPr>
        <p:spPr>
          <a:xfrm>
            <a:off x="6153912" y="173736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36792" y="1920240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2" descr="/home/claude/aegis/icons/g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687" y="2043135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36792" y="2523744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GPS module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36792" y="29077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NEO-M8N chip targets location accuracy within 2–3 metres.</a:t>
            </a:r>
            <a:endParaRPr lang="en-US" sz="930" dirty="0"/>
          </a:p>
        </p:txBody>
      </p:sp>
      <p:sp>
        <p:nvSpPr>
          <p:cNvPr id="24" name="Shape 19"/>
          <p:cNvSpPr/>
          <p:nvPr/>
        </p:nvSpPr>
        <p:spPr>
          <a:xfrm>
            <a:off x="8979408" y="173736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62288" y="1920240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6" name="Image 3" descr="/home/claude/aegis/icons/mode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183" y="2043135"/>
            <a:ext cx="266273" cy="2662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100816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162288" y="2523744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4G LTE + SMS modem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162288" y="2907792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link for calls, texts, app data and video upload.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502920" y="3904488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85800" y="4087368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2" name="Image 4" descr="/home/claude/aegis/icons/satdi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" y="4210263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624328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685800" y="469087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Satellite SOS backup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685800" y="507492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planned compressed location ping when there is zero cell signal.</a:t>
            </a:r>
            <a:endParaRPr lang="en-US" sz="930" dirty="0"/>
          </a:p>
        </p:txBody>
      </p:sp>
      <p:sp>
        <p:nvSpPr>
          <p:cNvPr id="36" name="Shape 29"/>
          <p:cNvSpPr/>
          <p:nvPr/>
        </p:nvSpPr>
        <p:spPr>
          <a:xfrm>
            <a:off x="3328416" y="3904488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511296" y="4087368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8" name="Image 5" descr="/home/claude/aegis/icons/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4191" y="4210263"/>
            <a:ext cx="266273" cy="26627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49824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3511296" y="469087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camera + mic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3511296" y="507492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cabin/rider view and two-way audio during an alert.</a:t>
            </a:r>
            <a:endParaRPr lang="en-US" sz="930" dirty="0"/>
          </a:p>
        </p:txBody>
      </p:sp>
      <p:sp>
        <p:nvSpPr>
          <p:cNvPr id="42" name="Shape 34"/>
          <p:cNvSpPr/>
          <p:nvPr/>
        </p:nvSpPr>
        <p:spPr>
          <a:xfrm>
            <a:off x="6153912" y="3904488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336792" y="4087368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44" name="Image 6" descr="/home/claude/aegis/icons/batte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687" y="4210263"/>
            <a:ext cx="266273" cy="26627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275320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6336792" y="469087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Li-ion battery + solar trickle</a:t>
            </a:r>
            <a:endParaRPr lang="en-US" sz="1250" dirty="0"/>
          </a:p>
        </p:txBody>
      </p:sp>
      <p:sp>
        <p:nvSpPr>
          <p:cNvPr id="47" name="Text 38"/>
          <p:cNvSpPr/>
          <p:nvPr/>
        </p:nvSpPr>
        <p:spPr>
          <a:xfrm>
            <a:off x="6336792" y="507492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Vehicle-powered with a standby battery that tops up on sunlight.</a:t>
            </a:r>
            <a:endParaRPr lang="en-US" sz="930" dirty="0"/>
          </a:p>
        </p:txBody>
      </p:sp>
      <p:sp>
        <p:nvSpPr>
          <p:cNvPr id="48" name="Shape 39"/>
          <p:cNvSpPr/>
          <p:nvPr/>
        </p:nvSpPr>
        <p:spPr>
          <a:xfrm>
            <a:off x="8979408" y="3904488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9162288" y="4087368"/>
            <a:ext cx="512064" cy="51206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0" name="Image 7" descr="/home/claude/aegis/icons/sosbt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5183" y="4210263"/>
            <a:ext cx="266273" cy="266273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1100816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9162288" y="4690872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SOS button</a:t>
            </a:r>
            <a:endParaRPr lang="en-US" sz="1250" dirty="0"/>
          </a:p>
        </p:txBody>
      </p:sp>
      <p:sp>
        <p:nvSpPr>
          <p:cNvPr id="53" name="Text 43"/>
          <p:cNvSpPr/>
          <p:nvPr/>
        </p:nvSpPr>
        <p:spPr>
          <a:xfrm>
            <a:off x="9162288" y="507492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3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 for emergencies the sensors can’t detect.</a:t>
            </a:r>
            <a:endParaRPr lang="en-US" sz="930" dirty="0"/>
          </a:p>
        </p:txBody>
      </p:sp>
      <p:sp>
        <p:nvSpPr>
          <p:cNvPr id="54" name="Text 44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56" name="Text 46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57" name="Text 4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CAR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it’s designed to sit in a car, and why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mounting layout — exact hardware placement follows prototyping.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212080" cy="44805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E4E2DD"/>
            </a:solidFill>
            <a:prstDash val="solid"/>
          </a:ln>
          <a:effectLst>
            <a:outerShdw sx="100000" sy="100000" kx="0" ky="0" algn="bl" rotWithShape="0" blurRad="203200" dist="76200" dir="5400000">
              <a:srgbClr val="1A1F26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47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· TOP 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2286000"/>
            <a:ext cx="640080" cy="64008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0" descr="/home/claude/aegis/icons/windshieldc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539" y="243961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0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24912" y="3703320"/>
            <a:ext cx="768096" cy="768096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/home/claude/aegis/icons/primaryun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255" y="3887663"/>
            <a:ext cx="399410" cy="3994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4507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88920" y="5120640"/>
            <a:ext cx="640080" cy="64008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2" descr="/home/claude/aegis/icons/rearsens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539" y="52742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0320" y="5788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989320" y="1874520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18" name="Text 13"/>
          <p:cNvSpPr/>
          <p:nvPr/>
        </p:nvSpPr>
        <p:spPr>
          <a:xfrm>
            <a:off x="6208776" y="1755648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Primary unit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08776" y="2066544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Under-dash main unit — houses IMU, GPS, 4G modem &amp; MCU; taps 12V + CAN data via the OBD-II port for power and speed/airbag signals.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89320" y="2953512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1" name="Text 16"/>
          <p:cNvSpPr/>
          <p:nvPr/>
        </p:nvSpPr>
        <p:spPr>
          <a:xfrm>
            <a:off x="6208776" y="2834640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Rear bumper sensor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08776" y="3145536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secondary IMU node cross-checks rear-end collisions for higher detection accuracy.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989320" y="4032504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4" name="Text 19"/>
          <p:cNvSpPr/>
          <p:nvPr/>
        </p:nvSpPr>
        <p:spPr>
          <a:xfrm>
            <a:off x="6208776" y="3913632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Windshield-mounted camera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08776" y="4224528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lens near the rear-view mirror captures the cabin and forward view for the live stream.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989320" y="5111496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7" name="Text 22"/>
          <p:cNvSpPr/>
          <p:nvPr/>
        </p:nvSpPr>
        <p:spPr>
          <a:xfrm>
            <a:off x="6208776" y="4992624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Boot-mounted backup battery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208776" y="5303520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keep the device alive for up to 6 hours if a crash cuts vehicle power.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1" name="Text 26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BIKE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it’s designed to sit on a two-wheeler, and why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mounting layout — tune thresholds during field testing.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212080" cy="4480560"/>
          </a:xfrm>
          <a:prstGeom prst="roundRect">
            <a:avLst>
              <a:gd name="adj" fmla="val 7143"/>
            </a:avLst>
          </a:prstGeom>
          <a:solidFill>
            <a:srgbClr val="141B24"/>
          </a:solidFill>
          <a:ln w="19050">
            <a:solidFill>
              <a:srgbClr val="242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47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· SIDE 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24912" y="2468880"/>
            <a:ext cx="768096" cy="768096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0" descr="/home/claude/aegis/icons/seatu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255" y="2653223"/>
            <a:ext cx="399410" cy="3994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UNDER-SEAT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51560" y="3931920"/>
            <a:ext cx="658368" cy="658368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/home/claude/aegis/icons/helmetc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568" y="408992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4636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07992" y="3931920"/>
            <a:ext cx="658368" cy="658368"/>
          </a:xfrm>
          <a:prstGeom prst="ellipse">
            <a:avLst/>
          </a:prstGeom>
          <a:solidFill>
            <a:srgbClr val="0B0F14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2" descr="/home/claude/aegis/icons/solar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000" y="408992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97680" y="4636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788920" y="5212080"/>
            <a:ext cx="640080" cy="64008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3" descr="/home/claude/aegis/icons/falltu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539" y="536569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5897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SENSOR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989320" y="1874520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1" name="Text 15"/>
          <p:cNvSpPr/>
          <p:nvPr/>
        </p:nvSpPr>
        <p:spPr>
          <a:xfrm>
            <a:off x="6208776" y="1755648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Under-seat main unit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208776" y="2066544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 casing wired to the 12V battery via a fused tap; built to survive rain, dust and vibration.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9320" y="2953512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4" name="Text 18"/>
          <p:cNvSpPr/>
          <p:nvPr/>
        </p:nvSpPr>
        <p:spPr>
          <a:xfrm>
            <a:off x="6208776" y="2834640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Fall-detection tuning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208776" y="3145536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threshold calibrated for two-wheelers: sudden lean angle + stillness signals a fall, not a crash-only trigger.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989320" y="4032504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7" name="Text 21"/>
          <p:cNvSpPr/>
          <p:nvPr/>
        </p:nvSpPr>
        <p:spPr>
          <a:xfrm>
            <a:off x="6208776" y="3913632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Handlebar / helmet camera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208776" y="4224528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clip-on lens on the handlebar mount (or helmet, optionally) for a rider’s-eye live view.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989320" y="5111496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0" name="Text 24"/>
          <p:cNvSpPr/>
          <p:nvPr/>
        </p:nvSpPr>
        <p:spPr>
          <a:xfrm>
            <a:off x="6208776" y="4992624"/>
            <a:ext cx="5449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Solar-assist trickle panel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208776" y="5303520"/>
            <a:ext cx="5449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thumbnail solar cell on the casing keeps the backup battery topped up when the bike is parked for days.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4" name="Text 28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DETECTION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Telling a crash apart from a pothole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uses independent thresholds before it dials for help.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cars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9346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 CRASH SIGNATURE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68680" y="2862072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11" name="Text 8"/>
          <p:cNvSpPr/>
          <p:nvPr/>
        </p:nvSpPr>
        <p:spPr>
          <a:xfrm>
            <a:off x="1060704" y="27340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Deceleration exceeding 4–5g within 150 ms.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282696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13" name="Text 10"/>
          <p:cNvSpPr/>
          <p:nvPr/>
        </p:nvSpPr>
        <p:spPr>
          <a:xfrm>
            <a:off x="1060704" y="3154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sustained roll/orientation change beyond 45°.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3703320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15" name="Text 12"/>
          <p:cNvSpPr/>
          <p:nvPr/>
        </p:nvSpPr>
        <p:spPr>
          <a:xfrm>
            <a:off x="1060704" y="35753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OBD-II speed data when available.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81928" y="178308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01968" y="2057400"/>
            <a:ext cx="566928" cy="566928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1" descr="/home/claude/aegis/icons/bikes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031" y="219346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33488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BIKE FALL SIGNATURE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647688" y="2862072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1" name="Text 17"/>
          <p:cNvSpPr/>
          <p:nvPr/>
        </p:nvSpPr>
        <p:spPr>
          <a:xfrm>
            <a:off x="6839712" y="27340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impact spike + non-vertical lean beyond 60°.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647688" y="3282696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3" name="Text 19"/>
          <p:cNvSpPr/>
          <p:nvPr/>
        </p:nvSpPr>
        <p:spPr>
          <a:xfrm>
            <a:off x="6839712" y="3154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meaningful movement for more than 10 seconds.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47688" y="3703320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5" name="Text 21"/>
          <p:cNvSpPr/>
          <p:nvPr/>
        </p:nvSpPr>
        <p:spPr>
          <a:xfrm>
            <a:off x="6839712" y="35753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 real fall from parking the bike on its stand.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02920" y="4434840"/>
            <a:ext cx="11173968" cy="1600200"/>
          </a:xfrm>
          <a:prstGeom prst="roundRect">
            <a:avLst>
              <a:gd name="adj" fmla="val 5143"/>
            </a:avLst>
          </a:prstGeom>
          <a:solidFill>
            <a:srgbClr val="0B0F14"/>
          </a:solidFill>
          <a:ln/>
        </p:spPr>
      </p:sp>
      <p:sp>
        <p:nvSpPr>
          <p:cNvPr id="27" name="Shape 23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141B24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8" name="Image 2" descr="/home/claude/aegis/icons/wind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908499"/>
            <a:ext cx="332842" cy="33284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691640" y="46908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SECOND CONFIRMATION WINDOW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691640" y="501091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trigger fires, the device sounds a buzzer and pushes an app alert. Pressing SOS, tapping “I’m OK,” or speaking into the built-in mic cancels the sequence — nothing is sent unless the crash is confirmed or the window lapses in silence.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3" name="Text 28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What’s engineered today, and what building requires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Concept-stage submission: the system design and cost model are worked out; hardware validation is next.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93392"/>
            <a:ext cx="502920" cy="50292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14093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0665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DONE AT CONCEPT STAGE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284378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715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research and market sizing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37413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architecture: sensing, detection, alert &amp; escalation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390448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776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selection and cost estimate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443484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4306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and bike mounting concepts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496519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8371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thresholds defined for bench testing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70832" y="173736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45152" y="1993392"/>
            <a:ext cx="502920" cy="50292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2" name="Image 1" descr="/home/claude/aegis/icons/n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2114093"/>
            <a:ext cx="261518" cy="2615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85232" y="20665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NEXT: 0–4 WEEK BUILD SPRINT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4645152" y="2843784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5" name="Text 21"/>
          <p:cNvSpPr/>
          <p:nvPr/>
        </p:nvSpPr>
        <p:spPr>
          <a:xfrm>
            <a:off x="4828032" y="2715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ESP32 + IMU + GPS breadboard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45152" y="3374136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7" name="Text 23"/>
          <p:cNvSpPr/>
          <p:nvPr/>
        </p:nvSpPr>
        <p:spPr>
          <a:xfrm>
            <a:off x="4828032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Bench-test 4–5g / 45° thresholds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645152" y="3904488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9" name="Text 25"/>
          <p:cNvSpPr/>
          <p:nvPr/>
        </p:nvSpPr>
        <p:spPr>
          <a:xfrm>
            <a:off x="4828032" y="3776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live SMS/call from simulated impact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645152" y="4434840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1" name="Text 27"/>
          <p:cNvSpPr/>
          <p:nvPr/>
        </p:nvSpPr>
        <p:spPr>
          <a:xfrm>
            <a:off x="4828032" y="4306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3D-print enclosure for car &amp; bike mounts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645152" y="4965192"/>
            <a:ext cx="73152" cy="73152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3" name="Text 29"/>
          <p:cNvSpPr/>
          <p:nvPr/>
        </p:nvSpPr>
        <p:spPr>
          <a:xfrm>
            <a:off x="4828032" y="48371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Field-test on one bike before satellite/112 integration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238744" y="173736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D63A2E"/>
          </a:solidFill>
          <a:ln/>
        </p:spPr>
      </p:sp>
      <p:sp>
        <p:nvSpPr>
          <p:cNvPr id="35" name="Shape 31"/>
          <p:cNvSpPr/>
          <p:nvPr/>
        </p:nvSpPr>
        <p:spPr>
          <a:xfrm>
            <a:off x="8513064" y="1993392"/>
            <a:ext cx="502920" cy="502920"/>
          </a:xfrm>
          <a:prstGeom prst="ellipse">
            <a:avLst/>
          </a:prstGeom>
          <a:solidFill>
            <a:srgbClr val="A32A2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6" name="Image 2" descr="/home/claude/aegis/icons/rup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2114093"/>
            <a:ext cx="261518" cy="26151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153144" y="2011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INDICATIVE HARDWARE COST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9153144" y="2487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VARIANT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513064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10799064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~₹250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8513064" y="3319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+ GPS (NEO-M8N)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10799064" y="3319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~₹550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8513064" y="3639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4G/SMS modem + antenna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10799064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~₹500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8513064" y="3959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solar, enclosure &amp; misc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10799064" y="39593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~₹200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513064" y="4315968"/>
            <a:ext cx="3063240" cy="0"/>
          </a:xfrm>
          <a:prstGeom prst="line">
            <a:avLst/>
          </a:prstGeom>
          <a:noFill/>
          <a:ln w="9525">
            <a:solidFill>
              <a:srgbClr val="FFD9D4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8513064" y="4425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8513064" y="46817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~₹1,500</a:t>
            </a:r>
            <a:endParaRPr lang="en-US" sz="2500" dirty="0"/>
          </a:p>
        </p:txBody>
      </p:sp>
      <p:sp>
        <p:nvSpPr>
          <p:cNvPr id="50" name="Text 45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52" name="Text 47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&amp; LOCATION / TARGET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Designed to hold accuracy to the metre — even off the grid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architecture: location fallback + adaptive video delivery.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03120"/>
            <a:ext cx="603504" cy="603504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247961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LOCATION / 3-LAYER FALLBACK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2953512"/>
            <a:ext cx="384048" cy="384048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2588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(primary)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25880" y="31729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NEO-M8N targets 2–3m accuracy in open sky within seconds.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384048" cy="384048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3258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Cell-tower triangulation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325880" y="41056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GPS is weak, the 4G modem estimates position from nearby tower signal strength.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22960" y="4818888"/>
            <a:ext cx="384048" cy="384048"/>
          </a:xfrm>
          <a:prstGeom prst="ellipse">
            <a:avLst/>
          </a:prstGeom>
          <a:solidFill>
            <a:srgbClr val="0B0F14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SOS ping (Phase 2, planned)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325880" y="503834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cell coverage? A low-bandwidth satellite modem would send coordinates as a last resort.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281928" y="1810512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0B0F14"/>
          </a:solidFill>
          <a:ln/>
        </p:spPr>
      </p:sp>
      <p:sp>
        <p:nvSpPr>
          <p:cNvPr id="23" name="Shape 20"/>
          <p:cNvSpPr/>
          <p:nvPr/>
        </p:nvSpPr>
        <p:spPr>
          <a:xfrm>
            <a:off x="6601968" y="2103120"/>
            <a:ext cx="603504" cy="603504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4" name="Image 1" descr="/home/claude/aegis/icons/video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809" y="2247961"/>
            <a:ext cx="313822" cy="31382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79208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VIDEO / ADAPTIVE, NEVER BLOCKED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601968" y="3063240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29443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streaming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812280" y="321868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low-res (240p) on weak networks, then scales up as bandwidth allows.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6601968" y="3995928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38770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relay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812280" y="415137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pushed to a secure cloud stream for contacts/dispatch.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6601968" y="4928616"/>
            <a:ext cx="82296" cy="82296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3" name="Text 29"/>
          <p:cNvSpPr/>
          <p:nvPr/>
        </p:nvSpPr>
        <p:spPr>
          <a:xfrm>
            <a:off x="6812280" y="48097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buffer for dead zones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812280" y="508406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records onboard and auto-uploads when connectivity returns.</a:t>
            </a:r>
            <a:endParaRPr lang="en-US" sz="1080" dirty="0"/>
          </a:p>
        </p:txBody>
      </p:sp>
      <p:sp>
        <p:nvSpPr>
          <p:cNvPr id="35" name="Text 31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7" name="Text 33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dashboard for family, and for first responders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the human-facing layer around the device.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0904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530352" cy="53035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0" descr="/home/claude/aegis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2093244"/>
            <a:ext cx="275783" cy="2757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6426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map &amp; trail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0083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position plus the last few minutes of movement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374136" y="178308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57016" y="1965960"/>
            <a:ext cx="530352" cy="53035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1" descr="/home/claude/aegis/icons/video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300" y="2093244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57016" y="26426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video &amp; audio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57016" y="30083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opens the streaming feed from the device camera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245352" y="178308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03336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28232" y="1965960"/>
            <a:ext cx="530352" cy="53035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1" name="Image 2" descr="/home/claude/aegis/icons/contac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516" y="2093244"/>
            <a:ext cx="275783" cy="27578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28232" y="26426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Up to 5 contacts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28232" y="30083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emergency contact list, editable anytime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9116568" y="178308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1274552" y="19110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617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299448" y="1965960"/>
            <a:ext cx="530352" cy="53035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7" name="Image 3" descr="/home/claude/aegis/icons/im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732" y="2093244"/>
            <a:ext cx="275783" cy="27578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99448" y="26426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“I’m OK” cancel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299448" y="3008376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false alarm instantly, from phone or device button</a:t>
            </a:r>
            <a:endParaRPr lang="en-US" sz="980" dirty="0"/>
          </a:p>
        </p:txBody>
      </p:sp>
      <p:sp>
        <p:nvSpPr>
          <p:cNvPr id="30" name="Text 24"/>
          <p:cNvSpPr/>
          <p:nvPr/>
        </p:nvSpPr>
        <p:spPr>
          <a:xfrm>
            <a:off x="502920" y="3977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ESCALATION CHAIN / NO SINGLE POINT OF FAILURE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2920" y="44805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0B0F1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234440" y="4645152"/>
            <a:ext cx="621792" cy="621792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3" name="Image 4" descr="/home/claude/aegis/icons/ch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670" y="4794382"/>
            <a:ext cx="323332" cy="3233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94360" y="532180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1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2752344" y="44805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0B0F1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483864" y="4645152"/>
            <a:ext cx="621792" cy="621792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7" name="Image 5" descr="/home/claude/aegis/icons/clockst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094" y="4794382"/>
            <a:ext cx="323332" cy="3233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2843784" y="532180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no response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2532888" y="48646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5001768" y="44805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0B0F1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733288" y="4645152"/>
            <a:ext cx="621792" cy="621792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42" name="Image 6" descr="/home/claude/aegis/icons/chain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2518" y="4794382"/>
            <a:ext cx="323332" cy="3233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093208" y="532180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2 + Local 112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4782312" y="48646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7251192" y="44805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0B0F1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7982712" y="4645152"/>
            <a:ext cx="621792" cy="621792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47" name="Image 7" descr="/home/claude/aegis/icons/confir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1942" y="4794382"/>
            <a:ext cx="323332" cy="32333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342632" y="532180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nothing?</a:t>
            </a:r>
            <a:endParaRPr lang="en-US" sz="1000" dirty="0"/>
          </a:p>
        </p:txBody>
      </p:sp>
      <p:sp>
        <p:nvSpPr>
          <p:cNvPr id="49" name="Text 39"/>
          <p:cNvSpPr/>
          <p:nvPr/>
        </p:nvSpPr>
        <p:spPr>
          <a:xfrm>
            <a:off x="7031736" y="48646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40"/>
          <p:cNvSpPr/>
          <p:nvPr/>
        </p:nvSpPr>
        <p:spPr>
          <a:xfrm>
            <a:off x="9500616" y="448056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0B0F1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10232136" y="4645152"/>
            <a:ext cx="621792" cy="621792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2" name="Image 8" descr="/home/claude/aegis/icons/chain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1366" y="4794382"/>
            <a:ext cx="323332" cy="323332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9592056" y="532180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Ambulance API</a:t>
            </a:r>
            <a:endParaRPr lang="en-US" sz="1000" dirty="0"/>
          </a:p>
        </p:txBody>
      </p:sp>
      <p:sp>
        <p:nvSpPr>
          <p:cNvPr id="54" name="Text 43"/>
          <p:cNvSpPr/>
          <p:nvPr/>
        </p:nvSpPr>
        <p:spPr>
          <a:xfrm>
            <a:off x="9281160" y="48646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Text 44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57" name="Text 46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ideas we’d build next, once the core loop works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scoped extensions that build on the existing alert pipeline.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292584"/>
            <a:ext cx="370881" cy="3708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severity scoring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TinyML model would read impact g-force and rollover pattern to flag minor / moderate / severe — so dispatch prioritises correctly. Directly upgrades the existing detection logic; no new hardware needed.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81928" y="182880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1968" y="2121408"/>
            <a:ext cx="713232" cy="71323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/home/claude/aegis/icons/med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144" y="2292584"/>
            <a:ext cx="370881" cy="3708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70648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Medical ID profile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47688" y="30632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user-authorized medical profile could attach critical information to every alert so first responders know relevant details before they arrive. This is a data-layer addition to the alert already being sent.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5029200"/>
            <a:ext cx="11173968" cy="1051560"/>
          </a:xfrm>
          <a:prstGeom prst="roundRect">
            <a:avLst>
              <a:gd name="adj" fmla="val 7826"/>
            </a:avLst>
          </a:prstGeom>
          <a:solidFill>
            <a:srgbClr val="0B0F14"/>
          </a:solidFill>
          <a:ln/>
        </p:spPr>
      </p:sp>
      <p:sp>
        <p:nvSpPr>
          <p:cNvPr id="17" name="Text 13"/>
          <p:cNvSpPr/>
          <p:nvPr/>
        </p:nvSpPr>
        <p:spPr>
          <a:xfrm>
            <a:off x="822960" y="51755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OUT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2296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voice check-in  ·  geofencing &amp; speed alerts  ·  insurance-ready crash data  ·  fleet safety dashboard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1" name="Text 17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AEGIS WINS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Point options solve one piece each. We’re engineering to close the whole loop.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based on the capabilities defined in this concept.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1183112" cy="548640"/>
          </a:xfrm>
          <a:prstGeom prst="roundRect">
            <a:avLst>
              <a:gd name="adj" fmla="val 10000"/>
            </a:avLst>
          </a:prstGeom>
          <a:solidFill>
            <a:srgbClr val="141B2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23560" y="196596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44384" y="196596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APPS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65208" y="1965960"/>
            <a:ext cx="2020824" cy="548640"/>
          </a:xfrm>
          <a:prstGeom prst="roundRect">
            <a:avLst>
              <a:gd name="adj" fmla="val 10000"/>
            </a:avLst>
          </a:prstGeom>
          <a:solidFill>
            <a:srgbClr val="D63A2E"/>
          </a:solidFill>
          <a:ln/>
        </p:spPr>
      </p:sp>
      <p:sp>
        <p:nvSpPr>
          <p:cNvPr id="11" name="Text 9"/>
          <p:cNvSpPr/>
          <p:nvPr/>
        </p:nvSpPr>
        <p:spPr>
          <a:xfrm>
            <a:off x="9665208" y="1965960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14600"/>
            <a:ext cx="11183112" cy="621792"/>
          </a:xfrm>
          <a:prstGeom prst="rect">
            <a:avLst/>
          </a:prstGeom>
          <a:solidFill>
            <a:srgbClr val="141B2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cell signal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2514600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44384" y="2514600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65208" y="2514600"/>
            <a:ext cx="2020824" cy="621792"/>
          </a:xfrm>
          <a:prstGeom prst="rect">
            <a:avLst/>
          </a:prstGeom>
          <a:solidFill>
            <a:srgbClr val="2A1512"/>
          </a:solidFill>
          <a:ln/>
        </p:spPr>
      </p:sp>
      <p:sp>
        <p:nvSpPr>
          <p:cNvPr id="17" name="Text 15"/>
          <p:cNvSpPr/>
          <p:nvPr/>
        </p:nvSpPr>
        <p:spPr>
          <a:xfrm>
            <a:off x="9665208" y="2514600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313639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before alerting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3136392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44384" y="3136392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65208" y="3136392"/>
            <a:ext cx="2020824" cy="621792"/>
          </a:xfrm>
          <a:prstGeom prst="rect">
            <a:avLst/>
          </a:prstGeom>
          <a:solidFill>
            <a:srgbClr val="2A1512"/>
          </a:solidFill>
          <a:ln/>
        </p:spPr>
      </p:sp>
      <p:sp>
        <p:nvSpPr>
          <p:cNvPr id="22" name="Text 20"/>
          <p:cNvSpPr/>
          <p:nvPr/>
        </p:nvSpPr>
        <p:spPr>
          <a:xfrm>
            <a:off x="9665208" y="3136392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3758184"/>
            <a:ext cx="11183112" cy="621792"/>
          </a:xfrm>
          <a:prstGeom prst="rect">
            <a:avLst/>
          </a:prstGeom>
          <a:solidFill>
            <a:srgbClr val="141B2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5818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video, not just a location pin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3758184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44384" y="3758184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65208" y="3758184"/>
            <a:ext cx="2020824" cy="621792"/>
          </a:xfrm>
          <a:prstGeom prst="rect">
            <a:avLst/>
          </a:prstGeom>
          <a:solidFill>
            <a:srgbClr val="2A1512"/>
          </a:solidFill>
          <a:ln/>
        </p:spPr>
      </p:sp>
      <p:sp>
        <p:nvSpPr>
          <p:cNvPr id="28" name="Text 26"/>
          <p:cNvSpPr/>
          <p:nvPr/>
        </p:nvSpPr>
        <p:spPr>
          <a:xfrm>
            <a:off x="9665208" y="3758184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437997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 required to trigger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437997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44384" y="437997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65208" y="4379976"/>
            <a:ext cx="2020824" cy="621792"/>
          </a:xfrm>
          <a:prstGeom prst="rect">
            <a:avLst/>
          </a:prstGeom>
          <a:solidFill>
            <a:srgbClr val="2A1512"/>
          </a:solidFill>
          <a:ln/>
        </p:spPr>
      </p:sp>
      <p:sp>
        <p:nvSpPr>
          <p:cNvPr id="33" name="Text 31"/>
          <p:cNvSpPr/>
          <p:nvPr/>
        </p:nvSpPr>
        <p:spPr>
          <a:xfrm>
            <a:off x="9665208" y="4379976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2920" y="5001768"/>
            <a:ext cx="11183112" cy="621792"/>
          </a:xfrm>
          <a:prstGeom prst="rect">
            <a:avLst/>
          </a:prstGeom>
          <a:solidFill>
            <a:srgbClr val="141B2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00176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 cost under ₹3,000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23560" y="5001768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44384" y="5001768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665208" y="5001768"/>
            <a:ext cx="2020824" cy="621792"/>
          </a:xfrm>
          <a:prstGeom prst="rect">
            <a:avLst/>
          </a:prstGeom>
          <a:solidFill>
            <a:srgbClr val="2A1512"/>
          </a:solidFill>
          <a:ln/>
        </p:spPr>
      </p:sp>
      <p:sp>
        <p:nvSpPr>
          <p:cNvPr id="39" name="Text 37"/>
          <p:cNvSpPr/>
          <p:nvPr/>
        </p:nvSpPr>
        <p:spPr>
          <a:xfrm>
            <a:off x="9665208" y="5001768"/>
            <a:ext cx="2020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42" name="Text 40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Affordable by design: hardware near cost, margin from subscriptions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pricing from the current concept.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HARDWARE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743200"/>
            <a:ext cx="777240" cy="77724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0" descr="/home/claude/aegis/icons/b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929738"/>
            <a:ext cx="404165" cy="4041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7614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Bike variant — ₹1,599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783080" y="32461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4G/SMS · motion sensor · SOS button · solar-assist battery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43434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4617720"/>
            <a:ext cx="777240" cy="77724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1" descr="/home/claude/aegis/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4804258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46360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 variant — ₹2,999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783080" y="51206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Bike, plus camera, mic, and OBD-II powered backup battery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126480" y="1965960"/>
            <a:ext cx="5559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2468880"/>
            <a:ext cx="555955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2688336"/>
            <a:ext cx="566928" cy="566928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2" descr="/home/claude/aegis/icons/bas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143" y="2824399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0" y="2615184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Basic — Free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086600" y="2953512"/>
            <a:ext cx="4370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SMS/call alerts + GPS location, forever — only standard telecom SMS cost applies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126480" y="3803904"/>
            <a:ext cx="5559552" cy="1170432"/>
          </a:xfrm>
          <a:prstGeom prst="roundRect">
            <a:avLst>
              <a:gd name="adj" fmla="val 7031"/>
            </a:avLst>
          </a:prstGeom>
          <a:solidFill>
            <a:srgbClr val="D63A2E"/>
          </a:solidFill>
          <a:ln w="12700">
            <a:solidFill>
              <a:srgbClr val="D63A2E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55080" y="4023360"/>
            <a:ext cx="566928" cy="566928"/>
          </a:xfrm>
          <a:prstGeom prst="ellipse">
            <a:avLst/>
          </a:prstGeom>
          <a:solidFill>
            <a:srgbClr val="A32A20"/>
          </a:solidFill>
          <a:ln w="15875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5" name="Image 3" descr="/home/claude/aegis/icons/pl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143" y="41594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86600" y="3950208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Plus — ₹79/mo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086600" y="4288536"/>
            <a:ext cx="4370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F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live video, 108 ambulance auto-dispatch, 5 contacts &amp; full app dashboard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6126480" y="5138928"/>
            <a:ext cx="555955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  <a:effectLst>
            <a:outerShdw sx="100000" sy="100000" kx="0" ky="0" algn="bl" rotWithShape="0" blurRad="152400" dist="50800" dir="5400000">
              <a:srgbClr val="1A1F26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355080" y="5358384"/>
            <a:ext cx="566928" cy="566928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0" name="Image 4" descr="/home/claude/aegis/icons/pr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143" y="5494447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86600" y="528523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 (Fleet) — Custom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086600" y="5623560"/>
            <a:ext cx="4370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integration, analytics &amp; multi-vehicle safety dashboard for businesses</a:t>
            </a:r>
            <a:endParaRPr lang="en-US" sz="1080" dirty="0"/>
          </a:p>
        </p:txBody>
      </p:sp>
      <p:sp>
        <p:nvSpPr>
          <p:cNvPr id="33" name="Text 26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5" name="Text 28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Razor-and-blade model, two customer tracks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drives adoption; B2B expands recurring fleet value.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2103120"/>
            <a:ext cx="713232" cy="71323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b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04" y="2274296"/>
            <a:ext cx="370881" cy="3708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13969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B2C — Direct to riders &amp; drivers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via e-commerce, two-wheeler dealerships and insurance bundling.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1014984" y="38313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tier drives adoption; Plus subscription converts safety-conscious families.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482803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14984" y="470001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and rider communities amplify trust in a life-safety category.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81928" y="1828800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74536" y="2103120"/>
            <a:ext cx="713232" cy="713232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1" descr="/home/claude/aegis/icons/b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712" y="2274296"/>
            <a:ext cx="370881" cy="37088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70648" y="213969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B2B — Fleets &amp; institutions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6601968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and cab fleets (food, logistics, ride-hailing) pay per-vehicle for the Pro dashboard.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601968" y="395935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7"/>
          <p:cNvSpPr/>
          <p:nvPr/>
        </p:nvSpPr>
        <p:spPr>
          <a:xfrm>
            <a:off x="6793992" y="38313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partners co-fund devices in exchange for verified crash-data claims.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601968" y="482803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19"/>
          <p:cNvSpPr/>
          <p:nvPr/>
        </p:nvSpPr>
        <p:spPr>
          <a:xfrm>
            <a:off x="6793992" y="470001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highway authorities &amp; the 112 emergency network are long-term integration targets.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26" name="Text 22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6634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56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6751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concept to a highway-ready network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are targets, not completed capabilities.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8503920" cy="0"/>
          </a:xfrm>
          <a:prstGeom prst="line">
            <a:avLst/>
          </a:prstGeom>
          <a:noFill/>
          <a:ln w="19050">
            <a:solidFill>
              <a:srgbClr val="E4E2DD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822960" cy="82296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home/claude/aegis/icons/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2072030"/>
            <a:ext cx="427939" cy="42793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834640"/>
            <a:ext cx="2706624" cy="329184"/>
          </a:xfrm>
          <a:prstGeom prst="roundRect">
            <a:avLst>
              <a:gd name="adj" fmla="val 50000"/>
            </a:avLst>
          </a:prstGeom>
          <a:solidFill>
            <a:srgbClr val="D63A2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8346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3319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749040"/>
            <a:ext cx="2706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component selection and cost model finalized; breadboard build starts next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3337560" y="187452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617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1" descr="/home/claude/aegis/icons/prototyp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70" y="2072030"/>
            <a:ext cx="427939" cy="42793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91840" y="2834640"/>
            <a:ext cx="2706624" cy="329184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/>
        </p:spPr>
      </p:sp>
      <p:sp>
        <p:nvSpPr>
          <p:cNvPr id="16" name="Text 12"/>
          <p:cNvSpPr/>
          <p:nvPr/>
        </p:nvSpPr>
        <p:spPr>
          <a:xfrm>
            <a:off x="3291840" y="28346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00400" y="3319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Prototype &amp; Pilot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291840" y="3749040"/>
            <a:ext cx="2706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breadboard alert loop, validate car &amp; bike mounts, run a 50-unit field pilot with a delivery fleet partner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6172200" y="187452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617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2" descr="/home/claude/aegis/icons/launch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710" y="2072030"/>
            <a:ext cx="427939" cy="427939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26480" y="2834640"/>
            <a:ext cx="2706624" cy="329184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/>
        </p:spPr>
      </p:sp>
      <p:sp>
        <p:nvSpPr>
          <p:cNvPr id="22" name="Text 17"/>
          <p:cNvSpPr/>
          <p:nvPr/>
        </p:nvSpPr>
        <p:spPr>
          <a:xfrm>
            <a:off x="6126480" y="28346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035040" y="3319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Launch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126480" y="3749040"/>
            <a:ext cx="2706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SOS integration, D2C launch for bike variant, insurance-bundling pilot with one partner</a:t>
            </a:r>
            <a:endParaRPr lang="en-US" sz="1080" dirty="0"/>
          </a:p>
        </p:txBody>
      </p:sp>
      <p:sp>
        <p:nvSpPr>
          <p:cNvPr id="25" name="Shape 20"/>
          <p:cNvSpPr/>
          <p:nvPr/>
        </p:nvSpPr>
        <p:spPr>
          <a:xfrm>
            <a:off x="9006840" y="187452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617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26" name="Image 3" descr="/home/claude/aegis/icons/sca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50" y="2072030"/>
            <a:ext cx="427939" cy="427939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961120" y="2834640"/>
            <a:ext cx="2706624" cy="329184"/>
          </a:xfrm>
          <a:prstGeom prst="roundRect">
            <a:avLst>
              <a:gd name="adj" fmla="val 50000"/>
            </a:avLst>
          </a:prstGeom>
          <a:solidFill>
            <a:srgbClr val="E9ECEE"/>
          </a:solidFill>
          <a:ln/>
        </p:spPr>
      </p:sp>
      <p:sp>
        <p:nvSpPr>
          <p:cNvPr id="28" name="Text 22"/>
          <p:cNvSpPr/>
          <p:nvPr/>
        </p:nvSpPr>
        <p:spPr>
          <a:xfrm>
            <a:off x="8961120" y="28346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869680" y="3319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Scale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8961120" y="3749040"/>
            <a:ext cx="270662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variant + fleet dashboard GA, 112 emergency network integration, expansion beyond highway corridors</a:t>
            </a:r>
            <a:endParaRPr lang="en-US" sz="1080" dirty="0"/>
          </a:p>
        </p:txBody>
      </p:sp>
      <p:sp>
        <p:nvSpPr>
          <p:cNvPr id="31" name="Text 25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667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33" name="Text 27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ln w="12700">
            <a:solidFill>
              <a:srgbClr val="242E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512064"/>
            <a:ext cx="100584" cy="100584"/>
          </a:xfrm>
          <a:prstGeom prst="ellipse">
            <a:avLst/>
          </a:prstGeom>
          <a:solidFill>
            <a:srgbClr val="D63A2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04088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D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AEGIS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people behind the build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AEGIS · hackathon submission.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0888" y="2377440"/>
            <a:ext cx="3291840" cy="3108960"/>
          </a:xfrm>
          <a:prstGeom prst="roundRect">
            <a:avLst>
              <a:gd name="adj" fmla="val 2647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752448" y="2880360"/>
            <a:ext cx="1188720" cy="118872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9" name="Image 0" descr="/home/claude/aegis/icons/per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7740" y="3165653"/>
            <a:ext cx="618134" cy="6181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3768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Aryan Parab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3768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Hardware  •  App / UI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49928" y="2377440"/>
            <a:ext cx="3291840" cy="3108960"/>
          </a:xfrm>
          <a:prstGeom prst="roundRect">
            <a:avLst>
              <a:gd name="adj" fmla="val 2647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501488" y="2880360"/>
            <a:ext cx="1188720" cy="118872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14" name="Image 1" descr="/home/claude/aegis/icons/per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80" y="3165653"/>
            <a:ext cx="618134" cy="6181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2808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Manthan Pawar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32808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/ Embedded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98968" y="2377440"/>
            <a:ext cx="3291840" cy="3108960"/>
          </a:xfrm>
          <a:prstGeom prst="roundRect">
            <a:avLst>
              <a:gd name="adj" fmla="val 2647"/>
            </a:avLst>
          </a:prstGeom>
          <a:solidFill>
            <a:srgbClr val="141B24"/>
          </a:solidFill>
          <a:ln w="12700">
            <a:solidFill>
              <a:srgbClr val="242E3A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250528" y="2880360"/>
            <a:ext cx="1188720" cy="1188720"/>
          </a:xfrm>
          <a:prstGeom prst="ellipse">
            <a:avLst/>
          </a:prstGeom>
          <a:solidFill>
            <a:srgbClr val="0B0F1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19" name="Image 2" descr="/home/claude/aegis/icons/per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820" y="3165653"/>
            <a:ext cx="618134" cy="6181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81848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Chirayu Patil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81848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Cloud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011680"/>
            <a:ext cx="5943600" cy="5943600"/>
          </a:xfrm>
          <a:prstGeom prst="ellipse">
            <a:avLst/>
          </a:prstGeom>
          <a:ln w="12700">
            <a:solidFill>
              <a:srgbClr val="242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ln w="12700">
            <a:solidFill>
              <a:srgbClr val="242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141B24"/>
          </a:solidFill>
          <a:ln w="15875">
            <a:solidFill>
              <a:srgbClr val="D63A2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home/claude/aegis/icons/final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1338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057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SECOND COUNTS.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is engineered to turn any car or bike into a vehicle that can call for its own help — with an accurate location, a live view of what happened, and a chain of contacts that never gives up. Built to be affordable enough that every rider, not just the privileged few, can afford to be found.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1248" y="4617720"/>
            <a:ext cx="2743200" cy="0"/>
          </a:xfrm>
          <a:prstGeom prst="line">
            <a:avLst/>
          </a:prstGeom>
          <a:noFill/>
          <a:ln w="12700">
            <a:solidFill>
              <a:srgbClr val="242E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141B24"/>
          </a:solidFill>
          <a:ln w="15875">
            <a:solidFill>
              <a:srgbClr val="E8A3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1" descr="/home/claude/aegis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50456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TEAM AEGIS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00200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· The Crash Didn’t Call. We Did.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288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A6B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AEGIS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207008" y="6624828"/>
            <a:ext cx="45720" cy="45720"/>
          </a:xfrm>
          <a:prstGeom prst="ellipse">
            <a:avLst/>
          </a:prstGeom>
          <a:solidFill>
            <a:srgbClr val="D63A2E"/>
          </a:solidFill>
          <a:ln/>
        </p:spPr>
      </p:sp>
      <p:sp>
        <p:nvSpPr>
          <p:cNvPr id="15" name="Text 11"/>
          <p:cNvSpPr/>
          <p:nvPr/>
        </p:nvSpPr>
        <p:spPr>
          <a:xfrm>
            <a:off x="1316736" y="6528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2026-08-14T04:41:44Z</dcterms:created>
  <dcterms:modified xsi:type="dcterms:W3CDTF">2026-08-14T04:41:44Z</dcterms:modified>
</cp:coreProperties>
</file>